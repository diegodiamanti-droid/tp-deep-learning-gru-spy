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88629ef-a5cc-4976-98b2-286e936a1d1b}">
          <p14:sldIdLst>
            <p14:sldId id="256"/>
            <p14:sldId id="257"/>
            <p14:sldId id="258"/>
            <p14:sldId id="259"/>
            <p14:sldId id="260"/>
          </p14:sldIdLst>
        </p14:section>
        <p14:section name="Datos y metodología" id="{b981a809-7290-0f9b-f958-6339aba4e879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ultados" id="{7fc24252-1270-67cf-2221-27b2f91dc894}">
          <p14:sldIdLst>
            <p14:sldId id="267"/>
            <p14:sldId id="268"/>
            <p14:sldId id="269"/>
            <p14:sldId id="270"/>
          </p14:sldIdLst>
        </p14:section>
        <p14:section name="Cierre" id="{1bfa8da2-e8cc-dade-f0c7-3af55147c0af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7"/>
                </a:solidFill>
                <a:latin typeface="+mn-lt"/>
              </a:rPr>
              <a:t>Puntaje de Brier por bloque (menor es mejor)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 de base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0.2378</c:v>
                </c:pt>
                <c:pt idx="1">
                  <c:v>0.2296</c:v>
                </c:pt>
                <c:pt idx="2">
                  <c:v>0.2434</c:v>
                </c:pt>
                <c:pt idx="3">
                  <c:v>0.2406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0.258</c:v>
                </c:pt>
                <c:pt idx="1">
                  <c:v>0.2893</c:v>
                </c:pt>
                <c:pt idx="2">
                  <c:v>0.2566</c:v>
                </c:pt>
                <c:pt idx="3">
                  <c:v>0.2532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0.2443</c:v>
                </c:pt>
                <c:pt idx="1">
                  <c:v>0.2367</c:v>
                </c:pt>
                <c:pt idx="2">
                  <c:v>0.2658</c:v>
                </c:pt>
                <c:pt idx="3">
                  <c:v>0.2607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.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grupo y del tema. Trabajamos una sola pregunta: si una red recurrente estima mejor la probabilidad de suba de SPY a cinco ruedas que dos modelos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métrica principal es la calibración (Brier), no la exactitud, porque la probabilidad se usa para dimensionar posiciones. El criterio de decisión está fijado de antemano.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para la defensa: en imágenes la señal domina; en el mercado a cinco ruedas casi toda la variación es ruido. Si alguien muestra 75% u 80% de acierto en este problema, lo primero que hay que sospechar es fuga de información del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observación de la devolución tiene un cambio concreto y verificable en el notebook y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motiva la pregunta: no buscamos un oráculo de compra y venta, sino una probabilidad confiable que otra capa transforma en tamaño de 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universo aporta contexto macro: tasas, crédito, commodities y volatilidad. El VIX se usa solo transformado, nunca en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de variables: 78. La frecuencia de subas a cinco ruedas es alta, y eso hace que la línea de base sea un rival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se reentrenan desde cero en cada bloque, con la misma estandarización y la misma purga.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Pocos parámetros a propósito: con etiquetas a cinco ruedas que se solapan, las observaciones independientes son aproximadamente una quinta parte del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bloques de prueba con regímenes distintos: 2016–2018, pandemia, ciclo inflacionario y período reciente.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modelo puede tener AUC mayor a 0,5 y aun así peor Brier que una constante. Por eso el criterio principal es Brier y BSS, con significancia estimada por bootstrap.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ningún modelo supera a predecir siempre la frecuencia histórica de subas (alrededor del 60%). La GRU supera a la logística en los bloques 1 y 2, pero no en los bloques 3 y 4. Un AUC cercano a 0,5 es lo esperable en este problema; un valor mucho más alto sería sospechoso.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pérdida de entrenamiento queda por encima de la de validación porque incluye la penalización L2 y se calcula con ruido y dropout activos. Que la parada temprana no se active sugiere que el entrenamiento podría ser insuficiente: es una limitación.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modelos son peores que la línea de base de forma significativa. Entre ellos, la GRU gana en Brier pero no en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ilustración del efecto de la calibración sobre el tamaño de posición, no una estrategia operable.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respuestas salen de las tablas de resultados y de significancia.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limitaciones acotan el alcance de las conclusiones. La más relevante para la GRU es el entrenamiento corto.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GRU no le gana a predecir la frecuencia histórica. Lo valioso del trabajo es el protocolo que permite afirmarlo con fundamento.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respaldo para preguntas del tribunal.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2412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TP Final · Redes Neuronales y Deep Learning · Maestría en IA · Universidad de Palermo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UNIVERSIDAD DE PALERMO · MAESTRÍA EN INTELIGENCIA ARTIFICIAL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Redes Neuronales y Deep Learning · Trabajo Práctico Final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7373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recurrentes frente a modelos clásicos en la predicción probabilística de SPY a cinco ruedas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703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evaluación walk-forward centrada en la calibración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800600"/>
            <a:ext cx="3657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Grupo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Diego Diamanti · Melisa Maldonado · Diego Weber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Contacto: ddiama2@palermo.edu ·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</a:t>
            </a:r>
            <a:endParaRPr lang="en-US" sz="3000" dirty="0"/>
          </a:p>
        </p:txBody>
      </p:sp>
      <p:sp>
        <p:nvSpPr>
          <p:cNvPr id="3" name="Pregunta"/>
          <p:cNvSpPr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 una GRU estimar la probabilidad de que el retorno de SPY a cinco ruedas sea positivo con mejor calibración que una regresión logística y que una línea de base ingenua, bajo validación walk-forward?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4173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ruedas de horizonte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51460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2514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ruedas de contexto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6118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modelos comparados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Criterio de decisión: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GRU es mejor si el intervalo de confianza del 95% de la diferencia de puntaje de Brier, estimado por bootstrap por bloques, queda completamente por debajo de cero.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predecir la bolsa no es clasificar imágenes</a:t>
            </a:r>
            <a:endParaRPr lang="en-US" sz="3000" dirty="0"/>
          </a:p>
        </p:txBody>
      </p:sp>
      <p:sp>
        <p:nvSpPr>
          <p:cNvPr id="3" name="Clasificar imágenes"/>
          <p:cNvSpPr/>
          <p:nvPr/>
        </p:nvSpPr>
        <p:spPr>
          <a:xfrm>
            <a:off x="548640" y="1371600"/>
            <a:ext cx="5440680" cy="3383280"/>
          </a:xfrm>
          <a:prstGeom prst="roundRect">
            <a:avLst>
              <a:gd name="adj" fmla="val 216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 imágenes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14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 señal es estable: un gato siempre es un gato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Más épocas suelen mejorar el modelo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Exactitudes del 90% o más son habituales</a:t>
            </a:r>
            <a:endParaRPr lang="en-US" sz="1700" dirty="0"/>
          </a:p>
        </p:txBody>
      </p:sp>
      <p:sp>
        <p:nvSpPr>
          <p:cNvPr id="8" name="Predecir SPY a 5 ruedas"/>
          <p:cNvSpPr/>
          <p:nvPr/>
        </p:nvSpPr>
        <p:spPr>
          <a:xfrm>
            <a:off x="6172200" y="1371600"/>
            <a:ext cx="5440680" cy="3383280"/>
          </a:xfrm>
          <a:prstGeom prst="roundRect">
            <a:avLst>
              <a:gd name="adj" fmla="val 216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SPY a 5 ruedas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514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 señal es débil y cambia con el régimen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 aprendido en un período puede no repetirse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Una exactitud muy alta suele indicar fuga de información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Consecuencia para el diseño: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línea de base exigente, validación temporal estricta y una métrica que castigue la sobreconfianza (Brier). El objetivo no es un oráculo, sino saber con fundamento si el modelo aporta algo.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cambiamos a partir de la devolución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 del docente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realizado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formal y datos de contacto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Portada con asignatura, integrantes y contacto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Explicar qué es AlphaTQ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estudio, no objeto de evaluación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predice y con qué horizonte?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pregunta: signo de SPY a 5 ruedas, ventanas de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(2006) y HYG (2007)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común desde mayo de 2007, sin imputaciones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Retornos, no precios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variables estacionarias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Walk-forward y escalado solo en entrenamiento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bloques, purga de 5 ruedas, escalado por bloque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con logística y línea de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modelos bajo el mismo protocolo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Calibración con Brier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Brier, BSS, diagramas de confiabilidad y bootstrap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estudio: qué es AlphaTQ y dónde iría el modelo</a:t>
            </a:r>
            <a:endParaRPr lang="en-US" sz="3000" dirty="0"/>
          </a:p>
        </p:txBody>
      </p:sp>
      <p:sp>
        <p:nvSpPr>
          <p:cNvPr id="3" name="Capa 1"/>
          <p:cNvSpPr/>
          <p:nvPr/>
        </p:nvSpPr>
        <p:spPr>
          <a:xfrm>
            <a:off x="548640" y="1325880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Capa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325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Ingesta y percepción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Variables y modelo GRU → p_t</a:t>
            </a:r>
            <a:endParaRPr lang="en-US" sz="1500" dirty="0"/>
          </a:p>
        </p:txBody>
      </p:sp>
      <p:sp>
        <p:nvSpPr>
          <p:cNvPr id="6" name="Capa 2"/>
          <p:cNvSpPr/>
          <p:nvPr/>
        </p:nvSpPr>
        <p:spPr>
          <a:xfrm>
            <a:off x="548640" y="2112264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122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122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Señales y estrategias</a:t>
            </a:r>
            <a:endParaRPr lang="en-US" sz="1500" dirty="0"/>
          </a:p>
        </p:txBody>
      </p:sp>
      <p:sp>
        <p:nvSpPr>
          <p:cNvPr id="9" name="Capa 3"/>
          <p:cNvSpPr/>
          <p:nvPr/>
        </p:nvSpPr>
        <p:spPr>
          <a:xfrm>
            <a:off x="548640" y="2898648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8986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Asignación de cartera</a:t>
            </a:r>
            <a:endParaRPr lang="en-US" sz="1500" dirty="0"/>
          </a:p>
        </p:txBody>
      </p:sp>
      <p:sp>
        <p:nvSpPr>
          <p:cNvPr id="12" name="Capa 4"/>
          <p:cNvSpPr/>
          <p:nvPr/>
        </p:nvSpPr>
        <p:spPr>
          <a:xfrm>
            <a:off x="548640" y="3685032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850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6850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Riesgo y dimensionamiento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Usa p_t para el tamaño de posición</a:t>
            </a:r>
            <a:endParaRPr lang="en-US" sz="1500" dirty="0"/>
          </a:p>
        </p:txBody>
      </p:sp>
      <p:sp>
        <p:nvSpPr>
          <p:cNvPr id="15" name="Capa 5"/>
          <p:cNvSpPr/>
          <p:nvPr/>
        </p:nvSpPr>
        <p:spPr>
          <a:xfrm>
            <a:off x="548640" y="4471416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77240" y="447141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4714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Ejecución (OMS)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Determinista: la red no accede</a:t>
            </a:r>
            <a:endParaRPr lang="en-US" sz="1500" dirty="0"/>
          </a:p>
        </p:txBody>
      </p:sp>
      <p:sp>
        <p:nvSpPr>
          <p:cNvPr id="18" name="Capa 6"/>
          <p:cNvSpPr/>
          <p:nvPr/>
        </p:nvSpPr>
        <p:spPr>
          <a:xfrm>
            <a:off x="548640" y="5257800"/>
            <a:ext cx="603504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578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 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52578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Post-trade y monitoreo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12280" y="1655064"/>
            <a:ext cx="0" cy="235915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9037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p_t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137160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AlphaTQ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Plataforma de análisis cuantitativo desarrollada por uno de los autores, organizada en seis capas. Es el caso de estudio, no el objeto de evaluación.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modelo vive en la capa 1 y entrega una probabilidad p_t.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capa 4 la usa para dimensionar la posición.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ejecución es determinista: un error del modelo cambia la exposición, no genera órdenes.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chemeClr val="accent1"/>
                </a:solidFill>
              </a:rPr>
              <a:t>Por eso importa la calibración: una probabilidad sobreconfiada se traduce en exposición excesiva.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Datos: nueve ETF y el VIX desde mayo de 2007</a:t>
            </a:r>
            <a:endParaRPr lang="en-US" sz="3000" dirty="0"/>
          </a:p>
        </p:txBody>
      </p:sp>
      <p:sp>
        <p:nvSpPr>
          <p:cNvPr id="3" name="Dato 1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VIX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activos del universo</a:t>
            </a:r>
            <a:endParaRPr lang="en-US" sz="1400" dirty="0"/>
          </a:p>
        </p:txBody>
      </p:sp>
      <p:sp>
        <p:nvSpPr>
          <p:cNvPr id="6" name="Dato 2"/>
          <p:cNvSpPr/>
          <p:nvPr/>
        </p:nvSpPr>
        <p:spPr>
          <a:xfrm>
            <a:off x="3364992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481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may-2007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inicio del período común</a:t>
            </a:r>
            <a:endParaRPr lang="en-US" sz="1400" dirty="0"/>
          </a:p>
        </p:txBody>
      </p:sp>
      <p:sp>
        <p:nvSpPr>
          <p:cNvPr id="9" name="Dato 3"/>
          <p:cNvSpPr/>
          <p:nvPr/>
        </p:nvSpPr>
        <p:spPr>
          <a:xfrm>
            <a:off x="6181344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481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variables estacionarias</a:t>
            </a:r>
            <a:endParaRPr lang="en-US" sz="1400" dirty="0"/>
          </a:p>
        </p:txBody>
      </p:sp>
      <p:sp>
        <p:nvSpPr>
          <p:cNvPr id="12" name="Dato 4"/>
          <p:cNvSpPr/>
          <p:nvPr/>
        </p:nvSpPr>
        <p:spPr>
          <a:xfrm>
            <a:off x="8997696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4813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2016–2026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período fuera de muestra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Renta variable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SPY (objetivo) · QQQ · IWM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Renta fija y crédito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TLT · HYG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Materias primas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GLD · USO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Sectores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XLE · XLK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Volatilidad implícita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^VIX</a:t>
            </a:r>
            <a:endParaRPr lang="en-US" sz="1500" dirty="0"/>
          </a:p>
        </p:txBody>
      </p:sp>
      <p:sp>
        <p:nvSpPr>
          <p:cNvPr id="25" name="Por qué mayo 2007"/>
          <p:cNvSpPr/>
          <p:nvPr/>
        </p:nvSpPr>
        <p:spPr>
          <a:xfrm>
            <a:off x="6949440" y="3108960"/>
            <a:ext cx="4663440" cy="2651760"/>
          </a:xfrm>
          <a:prstGeom prst="roundRect">
            <a:avLst>
              <a:gd name="adj" fmla="val 275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32918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¿Por qué mayo de 2007?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HYG empezó a cotizar en abril de 2007 y USO en abril de 2006. Arrancar antes obligaría a imputar datos faltantes.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Fuente: yfinance, precios ajustados por dividendos y splits.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estacionarias y variable objetivo</a:t>
            </a:r>
            <a:endParaRPr lang="en-US" sz="3000" dirty="0"/>
          </a:p>
        </p:txBody>
      </p:sp>
      <p:sp>
        <p:nvSpPr>
          <p:cNvPr id="3" name="Por activo (8 × 9)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 activo (8 × 9)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Retorno diario; momentum a 5 y 20 ruedas; volatilidad a 10 y 20; distancia a la media de 20; volumen relativo; caída desde el máximo de 20</a:t>
            </a:r>
            <a:endParaRPr lang="en-US" sz="1400" dirty="0"/>
          </a:p>
        </p:txBody>
      </p:sp>
      <p:sp>
        <p:nvSpPr>
          <p:cNvPr id="7" name="Transversales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Transversales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2491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Media y desvío de los retornos del universo; proporción de activos en suba</a:t>
            </a:r>
            <a:endParaRPr lang="en-US" sz="1400" dirty="0"/>
          </a:p>
        </p:txBody>
      </p:sp>
      <p:sp>
        <p:nvSpPr>
          <p:cNvPr id="11" name="Volatilidad implícita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Volatilidad implícita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2491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Variación diaria del VIX; z-score a 20 ruedas; VIX sobre volatilidad realizada de SPY</a:t>
            </a:r>
            <a:endParaRPr lang="en-US" sz="1400" dirty="0"/>
          </a:p>
        </p:txBody>
      </p:sp>
      <p:sp>
        <p:nvSpPr>
          <p:cNvPr id="15" name="Objetivo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572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Variable objetivo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yₜ = 1 si el retorno de SPY entre el cierre de t y el de t + 5 es positivo; 0 en otro caso.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Sin niveles de precio: solo retornos, volatilidades y razones, para evitar cambios de escala entre 2007 y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modelos bajo el mismo protocolo</a:t>
            </a:r>
            <a:endParaRPr lang="en-US" sz="3000" dirty="0"/>
          </a:p>
        </p:txBody>
      </p:sp>
      <p:sp>
        <p:nvSpPr>
          <p:cNvPr id="3" name="Línea de base ingenua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base ingenua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Predice siempre la frecuencia de subas del entrenamiento.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Sin variables. Es el piso: un modelo que no lo supera no aporta información.</a:t>
            </a:r>
            <a:endParaRPr lang="en-US" sz="1400" dirty="0"/>
          </a:p>
        </p:txBody>
      </p:sp>
      <p:sp>
        <p:nvSpPr>
          <p:cNvPr id="9" name="Regresión logística"/>
          <p:cNvSpPr/>
          <p:nvPr/>
        </p:nvSpPr>
        <p:spPr>
          <a:xfrm>
            <a:off x="429768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173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Lineal, regularización L2 (C = 0,5), variables del día t estandarizadas.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Representa el enfoque clásico tabular, sin memoria temporal.</a:t>
            </a:r>
            <a:endParaRPr lang="en-US" sz="1400" dirty="0"/>
          </a:p>
        </p:txBody>
      </p:sp>
      <p:sp>
        <p:nvSpPr>
          <p:cNvPr id="15" name="GRU"/>
          <p:cNvSpPr/>
          <p:nvPr/>
        </p:nvSpPr>
        <p:spPr>
          <a:xfrm>
            <a:off x="804672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1737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063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Secuencia de 20 ruedas × 78 variables; 11.993 parámetros.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Ruido gaussiano, L2, dropout, label smoothing y parada temprana.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GRU: compacta y regularizada</a:t>
            </a:r>
            <a:endParaRPr lang="en-US" sz="3000" dirty="0"/>
          </a:p>
        </p:txBody>
      </p:sp>
      <p:sp>
        <p:nvSpPr>
          <p:cNvPr id="3" name="Entrada"/>
          <p:cNvSpPr/>
          <p:nvPr/>
        </p:nvSpPr>
        <p:spPr>
          <a:xfrm>
            <a:off x="548640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 × 78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84248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Ruido gaussiano"/>
          <p:cNvSpPr/>
          <p:nvPr/>
        </p:nvSpPr>
        <p:spPr>
          <a:xfrm>
            <a:off x="2157984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9424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Ruido gaussiano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σ = 0,04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93592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GRU"/>
          <p:cNvSpPr/>
          <p:nvPr/>
        </p:nvSpPr>
        <p:spPr>
          <a:xfrm>
            <a:off x="3767328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GRU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32 unidades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L2, dropout 0,30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10.752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02936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Densa"/>
          <p:cNvSpPr/>
          <p:nvPr/>
        </p:nvSpPr>
        <p:spPr>
          <a:xfrm>
            <a:off x="5376672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68112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Densa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24, ReLU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76672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792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Densa lineal"/>
          <p:cNvSpPr/>
          <p:nvPr/>
        </p:nvSpPr>
        <p:spPr>
          <a:xfrm>
            <a:off x="6986016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Densa lineal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16 → z_t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21624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LayerNorm + dropout"/>
          <p:cNvSpPr/>
          <p:nvPr/>
        </p:nvSpPr>
        <p:spPr>
          <a:xfrm>
            <a:off x="8595360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LayerNorm + dropout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0,25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30968" y="2468880"/>
            <a:ext cx="155448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Sigmoide"/>
          <p:cNvSpPr/>
          <p:nvPr/>
        </p:nvSpPr>
        <p:spPr>
          <a:xfrm>
            <a:off x="10204704" y="1600200"/>
            <a:ext cx="1417320" cy="17373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96144" y="169164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Sigmoide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 → p_t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204704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17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parámetros por capa · total 11.993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343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Optimización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Adam, tasa 1,5 × 10⁻⁴, lotes de 128, hasta 10 épocas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4343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Pérdida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Entropía cruzada binaria con label smoothing 0,08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Parada temprana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Último 15% del entrenamiento, purga de 5 ruedas, paciencia 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5120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Reproducibilidad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Semilla 42 y operaciones deterministas de TensorFlow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walk-forward sin fuga de información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Fold 1</a:t>
            </a:r>
            <a:endParaRPr lang="en-US" sz="1400" dirty="0"/>
          </a:p>
        </p:txBody>
      </p:sp>
      <p:sp>
        <p:nvSpPr>
          <p:cNvPr id="4" name="Fold 1 entrenamiento"/>
          <p:cNvSpPr/>
          <p:nvPr/>
        </p:nvSpPr>
        <p:spPr>
          <a:xfrm>
            <a:off x="1737360" y="1417320"/>
            <a:ext cx="426720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old 1 prueba"/>
          <p:cNvSpPr/>
          <p:nvPr/>
        </p:nvSpPr>
        <p:spPr>
          <a:xfrm>
            <a:off x="6004560" y="1417320"/>
            <a:ext cx="14771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Fold 2</a:t>
            </a:r>
            <a:endParaRPr lang="en-US" sz="1400" dirty="0"/>
          </a:p>
        </p:txBody>
      </p:sp>
      <p:sp>
        <p:nvSpPr>
          <p:cNvPr id="7" name="Fold 2 entrenamiento"/>
          <p:cNvSpPr/>
          <p:nvPr/>
        </p:nvSpPr>
        <p:spPr>
          <a:xfrm>
            <a:off x="1737360" y="1984248"/>
            <a:ext cx="57443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old 2 prueba"/>
          <p:cNvSpPr/>
          <p:nvPr/>
        </p:nvSpPr>
        <p:spPr>
          <a:xfrm>
            <a:off x="7481668" y="1984248"/>
            <a:ext cx="14771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511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Fold 3</a:t>
            </a:r>
            <a:endParaRPr lang="en-US" sz="1400" dirty="0"/>
          </a:p>
        </p:txBody>
      </p:sp>
      <p:sp>
        <p:nvSpPr>
          <p:cNvPr id="10" name="Fold 3 entrenamiento"/>
          <p:cNvSpPr/>
          <p:nvPr/>
        </p:nvSpPr>
        <p:spPr>
          <a:xfrm>
            <a:off x="1737360" y="2551176"/>
            <a:ext cx="7221415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old 3 prueba"/>
          <p:cNvSpPr/>
          <p:nvPr/>
        </p:nvSpPr>
        <p:spPr>
          <a:xfrm>
            <a:off x="8958775" y="2551176"/>
            <a:ext cx="1477108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181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Fold 4</a:t>
            </a:r>
            <a:endParaRPr lang="en-US" sz="1400" dirty="0"/>
          </a:p>
        </p:txBody>
      </p:sp>
      <p:sp>
        <p:nvSpPr>
          <p:cNvPr id="13" name="Fold 4 entrenamiento"/>
          <p:cNvSpPr/>
          <p:nvPr/>
        </p:nvSpPr>
        <p:spPr>
          <a:xfrm>
            <a:off x="1737360" y="3118104"/>
            <a:ext cx="8698523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old 4 prueba"/>
          <p:cNvSpPr/>
          <p:nvPr/>
        </p:nvSpPr>
        <p:spPr>
          <a:xfrm>
            <a:off x="10435883" y="3118104"/>
            <a:ext cx="902677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9846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2008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69323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2012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3880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08277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77754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2024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4114800"/>
            <a:ext cx="274320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4069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Entrenamiento (ventana expansiva)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4114800"/>
            <a:ext cx="274320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Prueba fuera de muestra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4834890"/>
            <a:ext cx="251460" cy="2514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88720" y="46634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Purga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 quitan las 5 últimas ruedas del entrenamiento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364992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4834890"/>
            <a:ext cx="251460" cy="2514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005072" y="46634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Escalado por bloque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Media y desvío solo del entrenamiento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6181344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074" y="4834890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821424" y="46634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Punto a punto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Cada variable usa información hasta t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8997696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426" y="4834890"/>
            <a:ext cx="251460" cy="25146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637776" y="46634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Reentrenamiento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Los tres modelos, desde cero, en cada bloque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medimos: calibración primero</a:t>
            </a:r>
            <a:endParaRPr lang="en-US" sz="3000" dirty="0"/>
          </a:p>
        </p:txBody>
      </p:sp>
      <p:sp>
        <p:nvSpPr>
          <p:cNvPr id="3" name="Brier"/>
          <p:cNvSpPr/>
          <p:nvPr/>
        </p:nvSpPr>
        <p:spPr>
          <a:xfrm>
            <a:off x="548640" y="1371600"/>
            <a:ext cx="5394960" cy="256032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Puntaje de Brier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= (1/M) · Σ (pᵢ − yᵢ)²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Error cuadrático de la probabilidad. Menor es mejor.</a:t>
            </a:r>
            <a:endParaRPr lang="en-US" sz="1700" dirty="0"/>
          </a:p>
        </p:txBody>
      </p:sp>
      <p:sp>
        <p:nvSpPr>
          <p:cNvPr id="5" name="BSS"/>
          <p:cNvSpPr/>
          <p:nvPr/>
        </p:nvSpPr>
        <p:spPr>
          <a:xfrm>
            <a:off x="6217920" y="1371600"/>
            <a:ext cx="5394960" cy="256032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6459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Brier Skill Score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BSS = 1 − BS(modelo) / BS(base)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Mayor que 0: aporta información por encima de la frecuencia histórica.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4640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44348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Complementarias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AUC-ROC, exactitud y pérdida logarítmica; promedios ponderados por bloque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4480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46405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44348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Significancia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Bootstrap por bloques de 20 ruedas, 2.000 réplicas, IC del 95%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46720" y="4480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6405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69680" y="44348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Valor económico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Medio Kelly, retorno real del día siguiente y costos de 5 pb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modelo supera a la línea de base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960120"/>
                <a:gridCol w="960120"/>
                <a:gridCol w="960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de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54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Promedio ponderado por ruedas de prueba (N = 2.703, 2016–2026).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675120" y="1234440"/>
          <a:ext cx="4937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Mensaje"/>
          <p:cNvSpPr/>
          <p:nvPr/>
        </p:nvSpPr>
        <p:spPr>
          <a:xfrm>
            <a:off x="548640" y="3657600"/>
            <a:ext cx="5852160" cy="2423160"/>
          </a:xfrm>
          <a:prstGeom prst="roundRect">
            <a:avLst>
              <a:gd name="adj" fmla="val 30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7947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Lectura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línea de base tiene el menor Brier en los 4 bloques.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Ambos modelos tienen BSS negativo en todos los bloques.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AUC entre 0,48 y 0,56: discriminación apenas superior al azar e inestable.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Dinámica de entrenamiento de la GRU</a:t>
            </a:r>
            <a:endParaRPr lang="en-US" sz="3000" dirty="0"/>
          </a:p>
        </p:txBody>
      </p:sp>
      <p:pic>
        <p:nvPicPr>
          <p:cNvPr id="3" name="Image 0" descr="Curvas de pérdida y AUC de entrenamiento y validación, Fold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31065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548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61872" y="4572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 de 10 épocas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La parada temprana no se activó en ningún bloque: la pérdida de validación siguió bajando.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97680" y="4617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7548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10912" y="4572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AUC de validación: pico en la época 1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En el último bloque cayó de 0,57 a 0,54 mientras la pérdida seguía mejorando.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046720" y="4617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7548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59952" y="4572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Aprende la frecuencia base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Mejora la pérdida acercando p a la tasa de subas, no discriminando mejor.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Calibración: probabilidades que no informan</a:t>
            </a:r>
            <a:endParaRPr lang="en-US" sz="3000" dirty="0"/>
          </a:p>
        </p:txBody>
      </p:sp>
      <p:pic>
        <p:nvPicPr>
          <p:cNvPr id="3" name="Image 0" descr="Diagrama de confiabilidad de la regresión logística y la G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846320" cy="484632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6916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¿Signif.?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AUC: GRU −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[−0,037; +0,046]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Brier: GRU −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[−0,028; −0,003]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Brier: GRU −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[+0,007; +0,020]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Brier: logística −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[+0,017; +0,041]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3474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Bootstrap por bloques de 20 ruedas, 2.000 réplicas. En Brier, negativo favorece al primer modelo.</a:t>
            </a:r>
            <a:endParaRPr lang="en-US" sz="1200" dirty="0"/>
          </a:p>
        </p:txBody>
      </p:sp>
      <p:sp>
        <p:nvSpPr>
          <p:cNvPr id="6" name="Lectura"/>
          <p:cNvSpPr/>
          <p:nvPr/>
        </p:nvSpPr>
        <p:spPr>
          <a:xfrm>
            <a:off x="6035040" y="4069080"/>
            <a:ext cx="5577840" cy="2011680"/>
          </a:xfrm>
          <a:prstGeom prst="roundRect">
            <a:avLst>
              <a:gd name="adj" fmla="val 363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309360" y="42062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Curvas casi horizontales: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frecuencia observada se queda cerca de 0,60 sea cual sea la probabilidad predicha.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La GRU contrae sus probabilidades hacia la frecuencia base: por eso calibra mejor que la logística, no porque discrimine mejor.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económica: menos caída, pero por baja exposición</a:t>
            </a:r>
            <a:endParaRPr lang="en-US" sz="3000" dirty="0"/>
          </a:p>
        </p:txBody>
      </p:sp>
      <p:pic>
        <p:nvPicPr>
          <p:cNvPr id="3" name="Image 0" descr="Curvas de capital y drawdown de SPY, regresión logística y G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0" cy="364048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25880"/>
          <a:ext cx="4389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731520"/>
                <a:gridCol w="914400"/>
                <a:gridCol w="868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Ret. 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 caída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223760" y="324612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Lectura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medio Kelly y p ≈ 0,6, la exposición media es de solo 11%.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caída menor es consecuencia de estar casi siempre fuera del mercado.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Sharpe inferior a mantener SPY: no hay valor económico.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Supuestos: retorno real del día siguiente, costos de 5 pb por rotación, solo compras, sin impuestos.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Discusión: tres preguntas, tres respuestas</a:t>
            </a:r>
            <a:endParaRPr lang="en-US" sz="3000" dirty="0"/>
          </a:p>
        </p:txBody>
      </p:sp>
      <p:sp>
        <p:nvSpPr>
          <p:cNvPr id="3" name="¿Supera alguno a la línea de base?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5564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9065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54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¿Supera alguno a la línea de base?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554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No. BSS negativo en los 4 bloques y diferencias significativas en contra. La mejor estimación es la frecuencia histórica.</a:t>
            </a:r>
            <a:endParaRPr lang="en-US" sz="1500" dirty="0"/>
          </a:p>
        </p:txBody>
      </p:sp>
      <p:sp>
        <p:nvSpPr>
          <p:cNvPr id="8" name="¿Aporta la secuencia?"/>
          <p:cNvSpPr/>
          <p:nvPr/>
        </p:nvSpPr>
        <p:spPr>
          <a:xfrm>
            <a:off x="548640" y="292608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31012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34610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1089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¿Aporta la secuencia?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3108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en calibración: la GRU gana en Brier (−0,015, significativo) pero no en AUC. La ventaja viene de probabilidades más conservadoras.</a:t>
            </a:r>
            <a:endParaRPr lang="en-US" sz="1500" dirty="0"/>
          </a:p>
        </p:txBody>
      </p:sp>
      <p:sp>
        <p:nvSpPr>
          <p:cNvPr id="13" name="¿Qué implica para AlphaTQ?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86460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50154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663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implica para AlphaTQ?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4663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red es un sensor, no el piloto: hoy su lectura no agrega información. No usar p_t como señal direccional; la ejecución sigue siendo determinista.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3000" dirty="0"/>
          </a:p>
        </p:txBody>
      </p:sp>
      <p:sp>
        <p:nvSpPr>
          <p:cNvPr id="3" name="Un activo, un horizonte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activo, un horizonte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 se generaliza a otros mercados ni horizontes</a:t>
            </a:r>
            <a:endParaRPr lang="en-US" sz="1700" dirty="0"/>
          </a:p>
        </p:txBody>
      </p:sp>
      <p:sp>
        <p:nvSpPr>
          <p:cNvPr id="6" name="Una sola semilla"/>
          <p:cNvSpPr/>
          <p:nvPr/>
        </p:nvSpPr>
        <p:spPr>
          <a:xfrm>
            <a:off x="4297680" y="137160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48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Una sola semilla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 variabilidad entre inicializaciones no se estimó</a:t>
            </a:r>
            <a:endParaRPr lang="en-US" sz="1700" dirty="0"/>
          </a:p>
        </p:txBody>
      </p:sp>
      <p:sp>
        <p:nvSpPr>
          <p:cNvPr id="9" name="Entrenamiento corto"/>
          <p:cNvSpPr/>
          <p:nvPr/>
        </p:nvSpPr>
        <p:spPr>
          <a:xfrm>
            <a:off x="8046720" y="137160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48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Entrenamiento corto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Parada temprana nunca activada: 10 épocas en los 4 bloques</a:t>
            </a:r>
            <a:endParaRPr lang="en-US" sz="1700" dirty="0"/>
          </a:p>
        </p:txBody>
      </p:sp>
      <p:sp>
        <p:nvSpPr>
          <p:cNvPr id="12" name="Muestra efectiva chica"/>
          <p:cNvSpPr/>
          <p:nvPr/>
        </p:nvSpPr>
        <p:spPr>
          <a:xfrm>
            <a:off x="548640" y="370332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Muestra efectiva chica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Etiquetas solapadas: ~1/5 de observaciones independientes</a:t>
            </a:r>
            <a:endParaRPr lang="en-US" sz="1700" dirty="0"/>
          </a:p>
        </p:txBody>
      </p:sp>
      <p:sp>
        <p:nvSpPr>
          <p:cNvPr id="15" name="Fuente no oficial"/>
          <p:cNvSpPr/>
          <p:nvPr/>
        </p:nvSpPr>
        <p:spPr>
          <a:xfrm>
            <a:off x="4297680" y="370332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80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Fuente no oficial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yfinance puede tener ajustes o faltantes</a:t>
            </a:r>
            <a:endParaRPr lang="en-US" sz="1700" dirty="0"/>
          </a:p>
        </p:txBody>
      </p:sp>
      <p:sp>
        <p:nvSpPr>
          <p:cNvPr id="18" name="z_t sin analizar"/>
          <p:cNvSpPr/>
          <p:nvPr/>
        </p:nvSpPr>
        <p:spPr>
          <a:xfrm>
            <a:off x="8046720" y="3703320"/>
            <a:ext cx="352044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480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z_t sin analizar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 representación latente no se estudió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3000" dirty="0"/>
          </a:p>
        </p:txBody>
      </p:sp>
      <p:sp>
        <p:nvSpPr>
          <p:cNvPr id="3" name="Respuesta"/>
          <p:cNvSpPr/>
          <p:nvPr/>
        </p:nvSpPr>
        <p:spPr>
          <a:xfrm>
            <a:off x="548640" y="1371600"/>
            <a:ext cx="594360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5303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Respuesta a la pregunta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Frente a la logística: sí en calibración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Brier 0,2508 vs 0,2656 (IC 95% de la diferencia [−0,028; −0,003]); sin diferencia en AUC.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Frente a la línea de base: no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Brier 0,2376, significativamente menor que ambos modelos (BSS −5,5% y −12,0%).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accent1"/>
                </a:solidFill>
              </a:rPr>
              <a:t>En series financieras de baja señal, el protocolo de evaluación pesa tanto como el modelo.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600200"/>
            <a:ext cx="46634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4"/>
                </a:solidFill>
              </a:rPr>
              <a:t>Trabajo futuro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Revisar la parada temprana: monitorear AUC o Brier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Múltiples semillas y ensambles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Calibración posterior (Platt o isotónica)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Análisis de la representación latente z_t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Arquitecturas con atención y otros activos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Brier, G. W. (1950). Verification of forecasts expressed in terms of probability. Monthly Weather Review, 78(1).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Cho, K. et al. (2014). Learning phrase representations using RNN encoder–decoder for statistical machine translation. EMNLP.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Fischer, T., y Krauss, C. (2018). Deep learning with LSTM networks for financial market predictions. EJOR, 270(2).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Gneiting, T., y Raftery, A. E. (2007). Strictly proper scoring rules, prediction, and estimation. JASA, 102(477).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Guo, C. et al. (2017). On calibration of modern neural networks. ICML.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Hochreiter, S., y Schmidhuber, J. (1997). Long short-term memory. Neural Computation, 9(8).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Kelly, J. L. (1956). A new interpretation of information rate. Bell System Technical Journal, 35(4).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Künsch, H. R. (1989). The jackknife and the bootstrap for general stationary observations. Annals of Statistics, 17(3).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López de Prado, M. (2018). Advances in financial machine learning. Wiley.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Müller, R., Kornblith, S., y Hinton, G. (2019). When does label smoothing help? NeurIPS.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Anexo: preguntas probables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¿Por qué la GRU no le gana a la línea de base?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2801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Porque sus desvíos respecto de la frecuencia de subas (~60%) no contienen información: el diagrama de confiabilidad es plano.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1106424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585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Entonces, ¿la GRU es mejor que la logística?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25856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en calibración (Brier −0,015, significativo). En AUC no hay diferencia (0,513 vs 0,519).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82112"/>
            <a:ext cx="1106424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3697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¿Por qué no se detuvo en la época 2?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23697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parada monitorea la pérdida, que siguió bajando; el AUC de validación sí cayó desde la época 1. Lo marcamos como limitación.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153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¿Por qué tan poca caída en la simulación?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21538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 exposición media de ~11%, no por acierto. El Sharpe es menor que el de SPY.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1106424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19379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¿Cómo saben que no hay fuga de información?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519379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Walk-forward, purga de 5 ruedas, escalado por bloque y variables calculadas con datos hasta 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 Deep Learning UP">
  <a:themeElements>
    <a:clrScheme name="TP Deep Learning UP">
      <a:dk1>
        <a:srgbClr val="1F2A37"/>
      </a:dk1>
      <a:lt1>
        <a:srgbClr val="FFFFFF"/>
      </a:lt1>
      <a:dk2>
        <a:srgbClr val="0F5257"/>
      </a:dk2>
      <a:lt2>
        <a:srgbClr val="F3F5F6"/>
      </a:lt2>
      <a:accent1>
        <a:srgbClr val="0F5257"/>
      </a:accent1>
      <a:accent2>
        <a:srgbClr val="C8962E"/>
      </a:accent2>
      <a:accent3>
        <a:srgbClr val="6B7280"/>
      </a:accent3>
      <a:accent4>
        <a:srgbClr val="D7E7E8"/>
      </a:accent4>
      <a:accent5>
        <a:srgbClr val="F5EBD8"/>
      </a:accent5>
      <a:accent6>
        <a:srgbClr val="8A3B2E"/>
      </a:accent6>
      <a:hlink>
        <a:srgbClr val="0F5257"/>
      </a:hlink>
      <a:folHlink>
        <a:srgbClr val="6B7280"/>
      </a:folHlink>
    </a:clrScheme>
    <a:fontScheme name="TP Deep Learning U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Final — Redes Neuronales y Deep Learning</dc:title>
  <dc:subject>PptxGenJS Presentation</dc:subject>
  <dc:creator>Diego Diamanti, Melisa Maldonado, Diego Weber</dc:creator>
  <cp:lastModifiedBy>Diego Diamanti, Melisa Maldonado, Diego Weber</cp:lastModifiedBy>
  <cp:revision>1</cp:revision>
  <dcterms:created xsi:type="dcterms:W3CDTF">2026-10-09T14:02:34Z</dcterms:created>
  <dcterms:modified xsi:type="dcterms:W3CDTF">2026-10-09T14:02:34Z</dcterms:modified>
</cp:coreProperties>
</file>